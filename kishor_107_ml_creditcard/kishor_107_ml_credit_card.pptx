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10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03E8B-10F0-9BD1-C6DA-A1A05CE3A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D4DE6C-2D7D-EE8E-0813-7B5727EF8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78187-F0D9-2239-515A-96BB9E41A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49982-043F-4AA9-84EE-15B623161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368CF-6942-5BF8-FE42-12172592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159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517A-7947-D5FA-8E47-BA41293C4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35176-1601-8D17-64C3-7EBFA4C81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82BA6-96CB-E761-8572-D325EC9B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13DD3-01FD-CC82-33B7-E48CFF7DA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B884B-EFD4-3143-C3F1-7CDD1C5A0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855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CF2A-F88C-33EC-7597-04A1DDF03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7D2154-DAD3-8FF0-2CD6-6724C48D4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8EF73-58C9-6A1D-CB43-0E163CB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63DD3-49B0-9F1C-8A9F-7BEC9C008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48F1D-ABA8-45F3-A63A-9896A7BB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483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7E0C-CC2E-268D-91CA-A0DCAFCAC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B9F6E-D5D7-B5B9-E305-3282874787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04C07-8619-1884-7A8D-3066EBD9D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5A994D-AD3C-B34A-EDD1-9503A8B3C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9CDE7-5276-9CB9-2C8E-EF5629F3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AC3C3-7E3B-5635-D921-10AB27F42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24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C8622-5331-D354-D65C-320B69BB5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91D27-62FF-7DD8-C46B-7735BF1FA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2D533-AC23-7898-6DE2-119CA5069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359C45-CE00-C321-B002-C8985DE9BA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114931-2D59-0C27-5E9C-CF15AF852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4CF313-4D32-70C7-B21D-8ACADCA4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664432-F54E-D149-EE41-7B2F8D267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F8965E-7C01-CF83-9F94-AC07428D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067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61276-98D1-01AB-F450-8723A0CDF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BE9EC-83B8-4892-7FF6-88FC92009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C7474-43A5-37F7-BD78-CCA2C333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8ABBE-3BF0-288A-D8F2-C1E9A9F5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304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411C95-475A-4203-00EB-3E771040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C7812-A877-BC13-787A-BAC35C11A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02C75-E58C-B699-2BA3-DCC21D8E2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94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F1949-E420-9E25-03A0-BBACF09A8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4CA3-776A-C113-7E41-2C6A769CD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C1BE3-8CA0-BB32-C73F-DDC8E66F9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9A22B-4681-74F7-BFF3-C6EC9BB13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69E5B-9A4A-DB55-58AB-84A638143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04E6E-007D-9C3C-DF5E-01CF5E7F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333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CEC1-ED0B-7589-A49A-0EBB14F7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4A67E5-5A2F-0016-92F0-AF283D5EE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1A62D-60DF-2B03-52D2-742E2DB515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5CD74-C9E8-F9EC-3273-A5804F56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4B079-2558-57BC-3665-BC02B5FD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BACB4-E39F-ACD9-E1B9-FCC6A4306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526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6DB8-4EC5-6D01-6BEC-16BEFE6A2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885D9-5977-70EB-C38C-585E26F00F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CF278-CF1D-B2BF-61F0-2F3C410D0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5BEA5-8247-F256-446F-75B3A0614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2A48C-4D37-9BEE-C874-52708C75E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668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DDD912-6E88-C17E-6D6F-00F67F90C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03F0C-12A6-9F30-8BF3-713807ED1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8EC7F-89B5-2EB2-F4A7-0B2D1FA9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9ECD6-0004-E952-CABE-7E04E6029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D80E7-E347-A108-51EA-843719963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32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E56CA-D6DD-F3CC-2795-4977644C4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D60E1-EA1C-4CBD-DCA5-AECCF46B2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3043C-8228-A4A9-4D6B-F301505FB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F53385-2C36-47C4-8F59-FCB6EB9D4C3C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0EB04-89F9-66B3-8690-36D502632D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16106-1B43-21EE-A140-E3FDD72DB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8A500-CFD4-4311-B945-1D6EC6763B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072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3CDE-861F-07EB-5439-AF06F9575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175317"/>
          </a:xfrm>
        </p:spPr>
        <p:txBody>
          <a:bodyPr>
            <a:normAutofit fontScale="90000"/>
          </a:bodyPr>
          <a:lstStyle/>
          <a:p>
            <a:r>
              <a:rPr lang="en-IN" dirty="0"/>
              <a:t>Credit card Fraud detection</a:t>
            </a:r>
            <a:br>
              <a:rPr lang="en-IN" dirty="0"/>
            </a:br>
            <a:r>
              <a:rPr lang="en-IN" dirty="0"/>
              <a:t>using </a:t>
            </a:r>
            <a:br>
              <a:rPr lang="en-IN" dirty="0"/>
            </a:br>
            <a:r>
              <a:rPr lang="en-IN" dirty="0"/>
              <a:t>Supervised and Unsupervised </a:t>
            </a:r>
            <a:br>
              <a:rPr lang="en-IN" dirty="0"/>
            </a:br>
            <a:r>
              <a:rPr lang="en-IN" dirty="0"/>
              <a:t>Techniques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F41424-6729-EC6D-2009-4BD283A697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IN" sz="2200" dirty="0"/>
              <a:t>                             </a:t>
            </a:r>
          </a:p>
          <a:p>
            <a:r>
              <a:rPr lang="en-IN" sz="2200" dirty="0"/>
              <a:t>                                                                               </a:t>
            </a:r>
          </a:p>
          <a:p>
            <a:r>
              <a:rPr lang="en-IN" sz="2800" dirty="0"/>
              <a:t>                                                                                By: Kishorkumar</a:t>
            </a:r>
          </a:p>
          <a:p>
            <a:endParaRPr lang="en-IN" sz="2200" dirty="0"/>
          </a:p>
          <a:p>
            <a:r>
              <a:rPr lang="en-IN" sz="2200" dirty="0"/>
              <a:t>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71917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3325-BDF6-99BC-888B-A4D70964F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6F61-A153-D61C-9B4C-B51CB3264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to Credit card fraud</a:t>
            </a:r>
          </a:p>
          <a:p>
            <a:r>
              <a:rPr lang="en-IN" dirty="0"/>
              <a:t>Challenges in Fraud detection</a:t>
            </a:r>
          </a:p>
          <a:p>
            <a:r>
              <a:rPr lang="en-IN" dirty="0"/>
              <a:t>Data preparation and exploration</a:t>
            </a:r>
          </a:p>
          <a:p>
            <a:r>
              <a:rPr lang="en-IN" dirty="0"/>
              <a:t>Supervised learning Approach : Random Forest</a:t>
            </a:r>
          </a:p>
          <a:p>
            <a:r>
              <a:rPr lang="en-IN" dirty="0"/>
              <a:t>Unsupervised learning Approach :Isolation Forest</a:t>
            </a:r>
          </a:p>
          <a:p>
            <a:r>
              <a:rPr lang="en-IN" dirty="0"/>
              <a:t>Implementation Strategy</a:t>
            </a:r>
          </a:p>
          <a:p>
            <a:r>
              <a:rPr lang="en-IN" dirty="0"/>
              <a:t>Performance Evaluation</a:t>
            </a:r>
          </a:p>
          <a:p>
            <a:r>
              <a:rPr lang="en-IN" dirty="0"/>
              <a:t>Conclusion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16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5885-8D68-7B83-56CB-B0F2E2D1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#Introduction to Credit card fraud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D37A9-44B1-791F-6A22-A28CFF1A93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Global credit card fraud losses exceeded $32 billion in 2023</a:t>
            </a:r>
          </a:p>
          <a:p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Fraudulent transactions represent less than 0.1% of all transactions </a:t>
            </a:r>
          </a:p>
          <a:p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Financial institutions face: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 * Reputational damages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 * Monetary losses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 * Customer stress and time loss</a:t>
            </a:r>
            <a:br>
              <a:rPr lang="en-IN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800" kern="1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Types of Credit Card Fraud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Lost/Stolen cards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Card-not-present fraud (online transactions)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Application fraud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Account takeover</a:t>
            </a:r>
            <a:b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- Card skimming and cloning</a:t>
            </a:r>
            <a:br>
              <a:rPr lang="en-IN" sz="1800" kern="100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1800" kern="100" dirty="0"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823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0D3E7-9FA1-05D2-D21B-0E782DC0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Calibri" panose="020F0502020204030204" pitchFamily="34" charset="0"/>
              </a:rPr>
              <a:t>#Challenges in Fraud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407C3-F228-C0E4-928E-15BBFFD6D1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Key Challenges</a:t>
            </a:r>
            <a:b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Highly imbalanced data (legitimate vs. fraudulent transactions)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Evolving fraud patterns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Real-time detection requirements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False positives affecting customer experience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Limited labelled data</a:t>
            </a:r>
            <a:b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kern="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Business Requirements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Minimize false negatives (undetected fraud)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Limit false positives (legitimate transactions flagged as fraud)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Process transactions in real-time</a:t>
            </a:r>
            <a:b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Adapt to changing fraud patterns</a:t>
            </a:r>
            <a:b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8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8311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BD624-CEB9-C953-EFB1-205709E1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</a:t>
            </a:r>
            <a:r>
              <a:rPr lang="en-IN" dirty="0">
                <a:effectLst/>
                <a:ea typeface="Calibri" panose="020F0502020204030204" pitchFamily="34" charset="0"/>
              </a:rPr>
              <a:t>Data Preparation and Exploration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CA9E-C23C-60B5-C6D1-65CBBEA4E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Sources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Transaction details (amount, time, location, merchant category)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Customer profiles and purchase history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Device and network information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Behavioural patterns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 Preprocessing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Feature engineering (time patterns, spending velocity)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Handling missing values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Standardization and normalization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Dimensionality reduction (PCA)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Addressing class imbalance (SMOTE, under sampling)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90122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B93A-DEA4-08EC-10BC-54FB777DB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Calibri" panose="020F0502020204030204" pitchFamily="34" charset="0"/>
              </a:rPr>
              <a:t>#Supervised Learning Approach - Random Forest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3EB41-7E7F-2AB4-C8AA-14B47CAED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5167313"/>
          </a:xfrm>
        </p:spPr>
        <p:txBody>
          <a:bodyPr>
            <a:normAutofit fontScale="77500" lnSpcReduction="20000"/>
          </a:bodyPr>
          <a:lstStyle/>
          <a:p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Why Random Forest?</a:t>
            </a:r>
          </a:p>
          <a:p>
            <a:pPr marL="0" indent="0">
              <a:buNone/>
            </a:pP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Excellent performance on imbalanced datasets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Handles non-linear relationships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Provides feature importance ranking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Robust to outliers and noise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Lower risk of overfitting compared to single decision trees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Implementation Details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Feature selection based on information gain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Ensemble of decision trees (100-500 trees)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Bootstrapped sampling with class weighting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Key Predictive Features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Transaction amount deviation from customer average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Time since last transaction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Geographical distance between transactions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Unusual merchant category for customer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Transaction velocity (multiple transactions in short time)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Device/channel risk score</a:t>
            </a:r>
            <a:br>
              <a:rPr lang="en-IN" sz="2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695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8A32-7C3C-90A2-841B-439A74B9B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effectLst/>
                <a:ea typeface="Calibri" panose="020F0502020204030204" pitchFamily="34" charset="0"/>
              </a:rPr>
              <a:t>#Unsupervised Learning Approach : </a:t>
            </a:r>
            <a:r>
              <a:rPr lang="en-IN" dirty="0"/>
              <a:t>PCA (Principal Component Analysis)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2090A-ABA6-D5B1-739F-527082F10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Dimensionality reduction technique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Identifies key patterns in high-dimensional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Helps visualize transaction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Reduces computational complexity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Preserves data variance while removing noise</a:t>
            </a:r>
          </a:p>
          <a:p>
            <a:pPr>
              <a:buNone/>
            </a:pPr>
            <a:r>
              <a:rPr lang="en-IN" sz="2400" b="1" dirty="0"/>
              <a:t>K-means Clustering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Groups transactions into distinct clusters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Identifies natural patterns in transaction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Helps establish normal behaviour profiles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Can detect outliers that deviate from cluster centres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Effective for customer segmentation</a:t>
            </a:r>
          </a:p>
        </p:txBody>
      </p:sp>
    </p:spTree>
    <p:extLst>
      <p:ext uri="{BB962C8B-B14F-4D97-AF65-F5344CB8AC3E}">
        <p14:creationId xmlns:p14="http://schemas.microsoft.com/office/powerpoint/2010/main" val="13972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DE0D-AC84-B6C5-0263-17AE2B268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#Implementation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F8838-E790-562D-E3B7-3064C3B45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Phase 1: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collection and preprocessing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development and initial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Integration framework design</a:t>
            </a:r>
          </a:p>
          <a:p>
            <a:pPr>
              <a:buNone/>
            </a:pPr>
            <a:r>
              <a:rPr lang="en-US" b="1" dirty="0"/>
              <a:t>Phase 2: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Shadow deployment and performance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Threshold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System integration testing</a:t>
            </a:r>
          </a:p>
          <a:p>
            <a:pPr>
              <a:buNone/>
            </a:pPr>
            <a:r>
              <a:rPr lang="en-US" b="1" dirty="0"/>
              <a:t>Phase 3: Deployment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Gradual rollout starting with low-risk transactions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Monitoring and adjustment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Full production deployment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4824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1CD3F-791A-BCE6-2FB6-BBD424F4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</a:t>
            </a:r>
            <a:r>
              <a:rPr lang="en-IN" b="1" dirty="0"/>
              <a:t>Performance Evaluation 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27D36-6A7E-3F19-C157-A5C1A4CC9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8711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IN" b="1" dirty="0"/>
              <a:t>Key Metrics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Precision and 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F1 score (balance between precision and recall)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AUC-ROC curve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False positive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Model monitoring and drift detection</a:t>
            </a:r>
          </a:p>
          <a:p>
            <a:pPr marL="0" indent="0"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Expected Performance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Random Forest: 95-98% recall for known fraud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Unsupervised approaches: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K-means &amp; PCA: Effective segmentation and 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Combined approach: 15-20% reduction in false positives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8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E424D-0BC3-BD2D-AC0E-045F129F0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#Implementation Strategy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87720-29A9-9AE4-0FAD-FF8213B0F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480"/>
            <a:ext cx="10515600" cy="493839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b="1" dirty="0"/>
              <a:t>Real-Time Scoring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API-based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Pre-transaction scoring (&lt;100ms)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Risk score generation and threshold-based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Integration with existing authorization systems</a:t>
            </a:r>
          </a:p>
          <a:p>
            <a:pPr>
              <a:buNone/>
            </a:pPr>
            <a:r>
              <a:rPr lang="en-IN" b="1" dirty="0"/>
              <a:t>Hybrid Approach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Supervised model (Random Forest) captures known fraud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Unsupervised models (K-means, PCA) identify emerging fraud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Combined score provides comprehensive risk assessment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537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5FD6A-0C50-F3D2-AFD0-9E602D0F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#Conclusion &amp; Recommendations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EE070-0E9B-6BCB-E797-62EF1269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512063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IN" b="1" dirty="0"/>
              <a:t>Key Takeaways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Combined supervised and unsupervised approach provides comprehensive coverage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Random Forest excels at detecting known fraud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Unsupervised techniques (K-means, PCA) identify novel patterns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Regular retraining is essential to maintain effectiveness</a:t>
            </a:r>
          </a:p>
          <a:p>
            <a:pPr>
              <a:buNone/>
            </a:pPr>
            <a:r>
              <a:rPr lang="en-IN" b="1" dirty="0"/>
              <a:t>Next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Implement real-time model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Develop feedback loop for confirmed fraud cases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Explore deep learning approaches for future iterations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Consider customer </a:t>
            </a:r>
            <a:r>
              <a:rPr lang="en-IN" dirty="0" err="1"/>
              <a:t>behavior</a:t>
            </a:r>
            <a:r>
              <a:rPr lang="en-IN" dirty="0"/>
              <a:t> segmentation for more targeted models</a:t>
            </a:r>
          </a:p>
        </p:txBody>
      </p:sp>
    </p:spTree>
    <p:extLst>
      <p:ext uri="{BB962C8B-B14F-4D97-AF65-F5344CB8AC3E}">
        <p14:creationId xmlns:p14="http://schemas.microsoft.com/office/powerpoint/2010/main" val="1855517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719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Courier New</vt:lpstr>
      <vt:lpstr>Office Theme</vt:lpstr>
      <vt:lpstr>Credit card Fraud detection using  Supervised and Unsupervised  Techniques</vt:lpstr>
      <vt:lpstr>Agenda</vt:lpstr>
      <vt:lpstr>#Introduction to Credit card fraud :</vt:lpstr>
      <vt:lpstr>#Challenges in Fraud Detection</vt:lpstr>
      <vt:lpstr>#Data Preparation and Exploration</vt:lpstr>
      <vt:lpstr>#Supervised Learning Approach - Random Forest</vt:lpstr>
      <vt:lpstr>#Unsupervised Learning Approach : PCA (Principal Component Analysis)</vt:lpstr>
      <vt:lpstr>#Implementation :</vt:lpstr>
      <vt:lpstr>#Performance Evaluation :</vt:lpstr>
      <vt:lpstr>#Implementation Strategy :</vt:lpstr>
      <vt:lpstr>#Conclusion &amp; Recommendations 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Durga Dimple</dc:creator>
  <cp:lastModifiedBy>Durga Dimple</cp:lastModifiedBy>
  <cp:revision>18</cp:revision>
  <dcterms:created xsi:type="dcterms:W3CDTF">2025-03-24T09:02:27Z</dcterms:created>
  <dcterms:modified xsi:type="dcterms:W3CDTF">2025-03-31T06:49:03Z</dcterms:modified>
</cp:coreProperties>
</file>